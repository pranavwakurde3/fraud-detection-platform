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in one sentence: a system that scores card transactions for fraud in milliseconds and shows risky ones to a human analyst.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Banks cannot check millions of transactions by hand. Fraud is rare, about 3.5 percent in this dataset. A model that always says not fraud is 96.5 percent accurate but catches nothing, so I judge models with PR-AUC.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producer, Kafka, consumer, the FastAPI service on Kubernetes which fetches card history from Feast and scores with XGBoost. Scores go to a database. Analysts use the dashboard and give feedback labels. A drift check can trigger retraining, and MLflow records every run. Show the architecture picture.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describe the history of each card: how many transactions before, seconds since the last one, amount compared to the card's average, and whether device, address or email changed. Every feature uses only past data to avoid leakage. Splits are by time, not random.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baseline had PR-AUC 0.12 with 12 features. Adding the C, D and M columns and early stopping with a time-based validation set raised it to 0.47. The graph neural network alone scored 0.29, and when blended the weight chose 0, so XGBoost stays in production. Training was still improving at 30 epochs, so a longer run might help.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replayed 2000 transactions through Kafka to the API on Kubernetes. Average latency was 6.3 milliseconds. The threshold table shows the trade-off between catching fraud and false alarms, which is why the dashboard has a threshold slider. Show the dashboard screenshot here. About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debugging story: Feast rejected my text card ID, so I switched to a numeric ID. Kafka stopped whenever Docker restarted. The Kubernetes pod crashed with CrashLoopBackOff because scikit-learn was missing from the image. I read the pod logs, found the cause, and added an import check so the build fails if a package is missing.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only the API runs on Kubernetes, the retrain path was never triggered because drift was only 11 percent, and analyst labels are collected but not yet used for retraining. Next steps are listed on the slide.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sp>
        <p:nvSpPr>
          <p:cNvPr id="2" name="Title"/>
          <p:cNvSpPr txBox="1"/>
          <p:nvPr/>
        </p:nvSpPr>
        <p:spPr>
          <a:xfrm>
            <a:off x="640080" y="1371600"/>
            <a:ext cx="7863840" cy="1280160"/>
          </a:xfrm>
          <a:prstGeom prst="rect">
            <a:avLst/>
          </a:prstGeom>
          <a:noFill/>
          <a:ln/>
        </p:spPr>
        <p:txBody>
          <a:bodyPr wrap="square" lIns="0" tIns="0" rIns="0" bIns="0" rtlCol="0" anchor="ctr"/>
          <a:lstStyle/>
          <a:p>
            <a:pPr indent="0" marL="0">
              <a:buNone/>
            </a:pPr>
            <a:r>
              <a:rPr lang="en-US" sz="3600" b="1" dirty="0">
                <a:solidFill>
                  <a:srgbClr val="FFFFFF"/>
                </a:solidFill>
              </a:rPr>
              <a:t>Real-Time Financial Fraud Detection Platform</a:t>
            </a:r>
            <a:endParaRPr lang="en-US" sz="3600" dirty="0"/>
          </a:p>
        </p:txBody>
      </p:sp>
      <p:sp>
        <p:nvSpPr>
          <p:cNvPr id="3" name="Subtitle"/>
          <p:cNvSpPr txBox="1"/>
          <p:nvPr/>
        </p:nvSpPr>
        <p:spPr>
          <a:xfrm>
            <a:off x="640080" y="2834640"/>
            <a:ext cx="7863840" cy="457200"/>
          </a:xfrm>
          <a:prstGeom prst="rect">
            <a:avLst/>
          </a:prstGeom>
          <a:noFill/>
          <a:ln/>
        </p:spPr>
        <p:txBody>
          <a:bodyPr wrap="square" lIns="0" tIns="0" rIns="0" bIns="0" rtlCol="0" anchor="ctr"/>
          <a:lstStyle/>
          <a:p>
            <a:pPr indent="0" marL="0">
              <a:buNone/>
            </a:pPr>
            <a:r>
              <a:rPr lang="en-US" sz="1600" dirty="0">
                <a:solidFill>
                  <a:srgbClr val="B8E0DB"/>
                </a:solidFill>
              </a:rPr>
              <a:t>Capstone project AIML-01  |  AI / Machine Learning Intern, Nexvia Technologies</a:t>
            </a:r>
            <a:endParaRPr lang="en-US" sz="1600" dirty="0"/>
          </a:p>
        </p:txBody>
      </p:sp>
      <p:sp>
        <p:nvSpPr>
          <p:cNvPr id="4" name="Name"/>
          <p:cNvSpPr txBox="1"/>
          <p:nvPr/>
        </p:nvSpPr>
        <p:spPr>
          <a:xfrm>
            <a:off x="640080" y="3383280"/>
            <a:ext cx="7863840" cy="457200"/>
          </a:xfrm>
          <a:prstGeom prst="rect">
            <a:avLst/>
          </a:prstGeom>
          <a:noFill/>
          <a:ln/>
        </p:spPr>
        <p:txBody>
          <a:bodyPr wrap="square" lIns="0" tIns="0" rIns="0" bIns="0" rtlCol="0" anchor="ctr"/>
          <a:lstStyle/>
          <a:p>
            <a:pPr indent="0" marL="0">
              <a:buNone/>
            </a:pPr>
            <a:r>
              <a:rPr lang="en-US" sz="1800" b="1" dirty="0">
                <a:solidFill>
                  <a:srgbClr val="FFFFFF"/>
                </a:solidFill>
              </a:rPr>
              <a:t>Pranav Balasaheb Wakurde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Accent bar"/>
          <p:cNvSpPr/>
          <p:nvPr/>
        </p:nvSpPr>
        <p:spPr>
          <a:xfrm>
            <a:off x="0" y="0"/>
            <a:ext cx="164592" cy="5143500"/>
          </a:xfrm>
          <a:prstGeom prst="rect">
            <a:avLst/>
          </a:prstGeom>
          <a:solidFill>
            <a:srgbClr val="0F766E"/>
          </a:solidFill>
          <a:ln w="12700">
            <a:solidFill>
              <a:srgbClr val="0F766E"/>
            </a:solidFill>
            <a:prstDash val="solid"/>
          </a:ln>
        </p:spPr>
      </p:sp>
      <p:sp>
        <p:nvSpPr>
          <p:cNvPr id="3" name="Title"/>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The problem</a:t>
            </a:r>
            <a:endParaRPr lang="en-US" sz="2800" dirty="0"/>
          </a:p>
        </p:txBody>
      </p:sp>
      <p:sp>
        <p:nvSpPr>
          <p:cNvPr id="5" name="Body"/>
          <p:cNvSpPr txBox="1"/>
          <p:nvPr/>
        </p:nvSpPr>
        <p:spPr>
          <a:xfrm>
            <a:off x="548640" y="1188720"/>
            <a:ext cx="8046720" cy="32918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F2A44"/>
                </a:solidFill>
              </a:rPr>
              <a:t>Millions of card transactions; humans cannot review them all</a:t>
            </a:r>
            <a:endParaRPr lang="en-US" sz="1800" dirty="0"/>
          </a:p>
          <a:p>
            <a:pPr marL="342900" indent="-342900">
              <a:spcAft>
                <a:spcPts val="1000"/>
              </a:spcAft>
              <a:buSzPct val="100000"/>
              <a:buChar char="•"/>
            </a:pPr>
            <a:r>
              <a:rPr lang="en-US" sz="1800" dirty="0">
                <a:solidFill>
                  <a:srgbClr val="1F2A44"/>
                </a:solidFill>
              </a:rPr>
              <a:t>Fraud is rare: about 3.5% of 590,540 transactions (IEEE-CIS dataset)</a:t>
            </a:r>
            <a:endParaRPr lang="en-US" sz="1800" dirty="0"/>
          </a:p>
          <a:p>
            <a:pPr marL="342900" indent="-342900">
              <a:spcAft>
                <a:spcPts val="1000"/>
              </a:spcAft>
              <a:buSzPct val="100000"/>
              <a:buChar char="•"/>
            </a:pPr>
            <a:r>
              <a:rPr lang="en-US" sz="1800" dirty="0">
                <a:solidFill>
                  <a:srgbClr val="1F2A44"/>
                </a:solidFill>
              </a:rPr>
              <a:t>Predicting "never fraud" gives 96.5% accuracy and catches nothing</a:t>
            </a:r>
            <a:endParaRPr lang="en-US" sz="1800" dirty="0"/>
          </a:p>
          <a:p>
            <a:pPr marL="342900" indent="-342900">
              <a:spcAft>
                <a:spcPts val="1000"/>
              </a:spcAft>
              <a:buSzPct val="100000"/>
              <a:buChar char="•"/>
            </a:pPr>
            <a:r>
              <a:rPr lang="en-US" sz="1800" dirty="0">
                <a:solidFill>
                  <a:srgbClr val="1F2A44"/>
                </a:solidFill>
              </a:rPr>
              <a:t>So: rank transactions by risk, send the riskiest to analysts, and judge the model with PR-AUC</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Accent bar"/>
          <p:cNvSpPr/>
          <p:nvPr/>
        </p:nvSpPr>
        <p:spPr>
          <a:xfrm>
            <a:off x="0" y="0"/>
            <a:ext cx="164592" cy="5143500"/>
          </a:xfrm>
          <a:prstGeom prst="rect">
            <a:avLst/>
          </a:prstGeom>
          <a:solidFill>
            <a:srgbClr val="0F766E"/>
          </a:solidFill>
          <a:ln w="12700">
            <a:solidFill>
              <a:srgbClr val="0F766E"/>
            </a:solidFill>
            <a:prstDash val="solid"/>
          </a:ln>
        </p:spPr>
      </p:sp>
      <p:sp>
        <p:nvSpPr>
          <p:cNvPr id="3" name="Title"/>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Design</a:t>
            </a:r>
            <a:endParaRPr lang="en-US" sz="2800" dirty="0"/>
          </a:p>
        </p:txBody>
      </p:sp>
      <p:sp>
        <p:nvSpPr>
          <p:cNvPr id="5" name="Box Producer"/>
          <p:cNvSpPr/>
          <p:nvPr/>
        </p:nvSpPr>
        <p:spPr>
          <a:xfrm>
            <a:off x="548640" y="1234440"/>
            <a:ext cx="1371600" cy="822960"/>
          </a:xfrm>
          <a:prstGeom prst="roundRect">
            <a:avLst>
              <a:gd name="adj" fmla="val 8889"/>
            </a:avLst>
          </a:prstGeom>
          <a:solidFill>
            <a:srgbClr val="EEF4F3"/>
          </a:solidFill>
          <a:ln w="12700">
            <a:solidFill>
              <a:srgbClr val="0F766E"/>
            </a:solidFill>
            <a:prstDash val="solid"/>
          </a:ln>
        </p:spPr>
      </p:sp>
      <p:sp>
        <p:nvSpPr>
          <p:cNvPr id="6" name="Label Producer"/>
          <p:cNvSpPr txBox="1"/>
          <p:nvPr/>
        </p:nvSpPr>
        <p:spPr>
          <a:xfrm>
            <a:off x="548640" y="123444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1F2A44"/>
                </a:solidFill>
              </a:rPr>
              <a:t>Producer</a:t>
            </a:r>
            <a:endParaRPr lang="en-US" sz="1200" dirty="0"/>
          </a:p>
          <a:p>
            <a:pPr algn="ctr" indent="0" marL="0">
              <a:buNone/>
            </a:pPr>
            <a:r>
              <a:rPr lang="en-US" sz="1000" dirty="0">
                <a:solidFill>
                  <a:srgbClr val="5B6477"/>
                </a:solidFill>
              </a:rPr>
              <a:t>replays data</a:t>
            </a:r>
            <a:endParaRPr lang="en-US" sz="1200" dirty="0"/>
          </a:p>
        </p:txBody>
      </p:sp>
      <p:sp>
        <p:nvSpPr>
          <p:cNvPr id="7" name="Box Kafka"/>
          <p:cNvSpPr/>
          <p:nvPr/>
        </p:nvSpPr>
        <p:spPr>
          <a:xfrm>
            <a:off x="2103120" y="1234440"/>
            <a:ext cx="1371600" cy="822960"/>
          </a:xfrm>
          <a:prstGeom prst="roundRect">
            <a:avLst>
              <a:gd name="adj" fmla="val 8889"/>
            </a:avLst>
          </a:prstGeom>
          <a:solidFill>
            <a:srgbClr val="EEF4F3"/>
          </a:solidFill>
          <a:ln w="12700">
            <a:solidFill>
              <a:srgbClr val="0F766E"/>
            </a:solidFill>
            <a:prstDash val="solid"/>
          </a:ln>
        </p:spPr>
      </p:sp>
      <p:sp>
        <p:nvSpPr>
          <p:cNvPr id="8" name="Label Kafka"/>
          <p:cNvSpPr txBox="1"/>
          <p:nvPr/>
        </p:nvSpPr>
        <p:spPr>
          <a:xfrm>
            <a:off x="2103120" y="123444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1F2A44"/>
                </a:solidFill>
              </a:rPr>
              <a:t>Kafka</a:t>
            </a:r>
            <a:endParaRPr lang="en-US" sz="1200" dirty="0"/>
          </a:p>
          <a:p>
            <a:pPr algn="ctr" indent="0" marL="0">
              <a:buNone/>
            </a:pPr>
            <a:r>
              <a:rPr lang="en-US" sz="1000" dirty="0">
                <a:solidFill>
                  <a:srgbClr val="5B6477"/>
                </a:solidFill>
              </a:rPr>
              <a:t>message pipe</a:t>
            </a:r>
            <a:endParaRPr lang="en-US" sz="1200" dirty="0"/>
          </a:p>
        </p:txBody>
      </p:sp>
      <p:sp>
        <p:nvSpPr>
          <p:cNvPr id="9" name="Box Consumer"/>
          <p:cNvSpPr/>
          <p:nvPr/>
        </p:nvSpPr>
        <p:spPr>
          <a:xfrm>
            <a:off x="3657600" y="1234440"/>
            <a:ext cx="1371600" cy="822960"/>
          </a:xfrm>
          <a:prstGeom prst="roundRect">
            <a:avLst>
              <a:gd name="adj" fmla="val 8889"/>
            </a:avLst>
          </a:prstGeom>
          <a:solidFill>
            <a:srgbClr val="EEF4F3"/>
          </a:solidFill>
          <a:ln w="12700">
            <a:solidFill>
              <a:srgbClr val="0F766E"/>
            </a:solidFill>
            <a:prstDash val="solid"/>
          </a:ln>
        </p:spPr>
      </p:sp>
      <p:sp>
        <p:nvSpPr>
          <p:cNvPr id="10" name="Label Consumer"/>
          <p:cNvSpPr txBox="1"/>
          <p:nvPr/>
        </p:nvSpPr>
        <p:spPr>
          <a:xfrm>
            <a:off x="3657600" y="123444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1F2A44"/>
                </a:solidFill>
              </a:rPr>
              <a:t>Consumer</a:t>
            </a:r>
            <a:endParaRPr lang="en-US" sz="1200" dirty="0"/>
          </a:p>
          <a:p>
            <a:pPr algn="ctr" indent="0" marL="0">
              <a:buNone/>
            </a:pPr>
            <a:r>
              <a:rPr lang="en-US" sz="1000" dirty="0">
                <a:solidFill>
                  <a:srgbClr val="5B6477"/>
                </a:solidFill>
              </a:rPr>
              <a:t>calls the API</a:t>
            </a:r>
            <a:endParaRPr lang="en-US" sz="1200" dirty="0"/>
          </a:p>
        </p:txBody>
      </p:sp>
      <p:sp>
        <p:nvSpPr>
          <p:cNvPr id="11" name="Box FastAPI + XGBoost"/>
          <p:cNvSpPr/>
          <p:nvPr/>
        </p:nvSpPr>
        <p:spPr>
          <a:xfrm>
            <a:off x="3657600" y="2514600"/>
            <a:ext cx="1371600" cy="822960"/>
          </a:xfrm>
          <a:prstGeom prst="roundRect">
            <a:avLst>
              <a:gd name="adj" fmla="val 8889"/>
            </a:avLst>
          </a:prstGeom>
          <a:solidFill>
            <a:srgbClr val="EEF4F3"/>
          </a:solidFill>
          <a:ln w="12700">
            <a:solidFill>
              <a:srgbClr val="0F766E"/>
            </a:solidFill>
            <a:prstDash val="solid"/>
          </a:ln>
        </p:spPr>
      </p:sp>
      <p:sp>
        <p:nvSpPr>
          <p:cNvPr id="12" name="Label FastAPI + XGBoost"/>
          <p:cNvSpPr txBox="1"/>
          <p:nvPr/>
        </p:nvSpPr>
        <p:spPr>
          <a:xfrm>
            <a:off x="3657600" y="251460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1F2A44"/>
                </a:solidFill>
              </a:rPr>
              <a:t>FastAPI + XGBoost</a:t>
            </a:r>
            <a:endParaRPr lang="en-US" sz="1200" dirty="0"/>
          </a:p>
          <a:p>
            <a:pPr algn="ctr" indent="0" marL="0">
              <a:buNone/>
            </a:pPr>
            <a:r>
              <a:rPr lang="en-US" sz="1000" dirty="0">
                <a:solidFill>
                  <a:srgbClr val="5B6477"/>
                </a:solidFill>
              </a:rPr>
              <a:t>with Feast features</a:t>
            </a:r>
            <a:endParaRPr lang="en-US" sz="1200" dirty="0"/>
          </a:p>
        </p:txBody>
      </p:sp>
      <p:sp>
        <p:nvSpPr>
          <p:cNvPr id="13" name="Box Scores DB"/>
          <p:cNvSpPr/>
          <p:nvPr/>
        </p:nvSpPr>
        <p:spPr>
          <a:xfrm>
            <a:off x="2103120" y="2514600"/>
            <a:ext cx="1371600" cy="822960"/>
          </a:xfrm>
          <a:prstGeom prst="roundRect">
            <a:avLst>
              <a:gd name="adj" fmla="val 8889"/>
            </a:avLst>
          </a:prstGeom>
          <a:solidFill>
            <a:srgbClr val="EEF4F3"/>
          </a:solidFill>
          <a:ln w="12700">
            <a:solidFill>
              <a:srgbClr val="0F766E"/>
            </a:solidFill>
            <a:prstDash val="solid"/>
          </a:ln>
        </p:spPr>
      </p:sp>
      <p:sp>
        <p:nvSpPr>
          <p:cNvPr id="14" name="Label Scores DB"/>
          <p:cNvSpPr txBox="1"/>
          <p:nvPr/>
        </p:nvSpPr>
        <p:spPr>
          <a:xfrm>
            <a:off x="2103120" y="251460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1F2A44"/>
                </a:solidFill>
              </a:rPr>
              <a:t>Scores DB</a:t>
            </a:r>
            <a:endParaRPr lang="en-US" sz="1200" dirty="0"/>
          </a:p>
          <a:p>
            <a:pPr algn="ctr" indent="0" marL="0">
              <a:buNone/>
            </a:pPr>
            <a:r>
              <a:rPr lang="en-US" sz="1000" dirty="0">
                <a:solidFill>
                  <a:srgbClr val="5B6477"/>
                </a:solidFill>
              </a:rPr>
              <a:t>SQLite</a:t>
            </a:r>
            <a:endParaRPr lang="en-US" sz="1200" dirty="0"/>
          </a:p>
        </p:txBody>
      </p:sp>
      <p:sp>
        <p:nvSpPr>
          <p:cNvPr id="15" name="Box Dashboard"/>
          <p:cNvSpPr/>
          <p:nvPr/>
        </p:nvSpPr>
        <p:spPr>
          <a:xfrm>
            <a:off x="548640" y="2514600"/>
            <a:ext cx="1371600" cy="822960"/>
          </a:xfrm>
          <a:prstGeom prst="roundRect">
            <a:avLst>
              <a:gd name="adj" fmla="val 8889"/>
            </a:avLst>
          </a:prstGeom>
          <a:solidFill>
            <a:srgbClr val="EEF4F3"/>
          </a:solidFill>
          <a:ln w="12700">
            <a:solidFill>
              <a:srgbClr val="0F766E"/>
            </a:solidFill>
            <a:prstDash val="solid"/>
          </a:ln>
        </p:spPr>
      </p:sp>
      <p:sp>
        <p:nvSpPr>
          <p:cNvPr id="16" name="Label Dashboard"/>
          <p:cNvSpPr txBox="1"/>
          <p:nvPr/>
        </p:nvSpPr>
        <p:spPr>
          <a:xfrm>
            <a:off x="548640" y="251460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1F2A44"/>
                </a:solidFill>
              </a:rPr>
              <a:t>Dashboard</a:t>
            </a:r>
            <a:endParaRPr lang="en-US" sz="1200" dirty="0"/>
          </a:p>
          <a:p>
            <a:pPr algn="ctr" indent="0" marL="0">
              <a:buNone/>
            </a:pPr>
            <a:r>
              <a:rPr lang="en-US" sz="1000" dirty="0">
                <a:solidFill>
                  <a:srgbClr val="5B6477"/>
                </a:solidFill>
              </a:rPr>
              <a:t>analyst labels</a:t>
            </a:r>
            <a:endParaRPr lang="en-US" sz="1200" dirty="0"/>
          </a:p>
        </p:txBody>
      </p:sp>
      <p:sp>
        <p:nvSpPr>
          <p:cNvPr id="17" name="Box Drift check"/>
          <p:cNvSpPr/>
          <p:nvPr/>
        </p:nvSpPr>
        <p:spPr>
          <a:xfrm>
            <a:off x="2103120" y="3703320"/>
            <a:ext cx="1371600" cy="822960"/>
          </a:xfrm>
          <a:prstGeom prst="roundRect">
            <a:avLst>
              <a:gd name="adj" fmla="val 8889"/>
            </a:avLst>
          </a:prstGeom>
          <a:solidFill>
            <a:srgbClr val="EEF4F3"/>
          </a:solidFill>
          <a:ln w="12700">
            <a:solidFill>
              <a:srgbClr val="0F766E"/>
            </a:solidFill>
            <a:prstDash val="solid"/>
          </a:ln>
        </p:spPr>
      </p:sp>
      <p:sp>
        <p:nvSpPr>
          <p:cNvPr id="18" name="Label Drift check"/>
          <p:cNvSpPr txBox="1"/>
          <p:nvPr/>
        </p:nvSpPr>
        <p:spPr>
          <a:xfrm>
            <a:off x="2103120" y="370332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1F2A44"/>
                </a:solidFill>
              </a:rPr>
              <a:t>Drift check</a:t>
            </a:r>
            <a:endParaRPr lang="en-US" sz="1200" dirty="0"/>
          </a:p>
          <a:p>
            <a:pPr algn="ctr" indent="0" marL="0">
              <a:buNone/>
            </a:pPr>
            <a:r>
              <a:rPr lang="en-US" sz="1000" dirty="0">
                <a:solidFill>
                  <a:srgbClr val="5B6477"/>
                </a:solidFill>
              </a:rPr>
              <a:t>retrain if worse</a:t>
            </a:r>
            <a:endParaRPr lang="en-US" sz="1200" dirty="0"/>
          </a:p>
        </p:txBody>
      </p:sp>
      <p:sp>
        <p:nvSpPr>
          <p:cNvPr id="19" name="Box MLflow"/>
          <p:cNvSpPr/>
          <p:nvPr/>
        </p:nvSpPr>
        <p:spPr>
          <a:xfrm>
            <a:off x="548640" y="3703320"/>
            <a:ext cx="1371600" cy="822960"/>
          </a:xfrm>
          <a:prstGeom prst="roundRect">
            <a:avLst>
              <a:gd name="adj" fmla="val 8889"/>
            </a:avLst>
          </a:prstGeom>
          <a:solidFill>
            <a:srgbClr val="EEF4F3"/>
          </a:solidFill>
          <a:ln w="12700">
            <a:solidFill>
              <a:srgbClr val="0F766E"/>
            </a:solidFill>
            <a:prstDash val="solid"/>
          </a:ln>
        </p:spPr>
      </p:sp>
      <p:sp>
        <p:nvSpPr>
          <p:cNvPr id="20" name="Label MLflow"/>
          <p:cNvSpPr txBox="1"/>
          <p:nvPr/>
        </p:nvSpPr>
        <p:spPr>
          <a:xfrm>
            <a:off x="548640" y="370332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1F2A44"/>
                </a:solidFill>
              </a:rPr>
              <a:t>MLflow</a:t>
            </a:r>
            <a:endParaRPr lang="en-US" sz="1200" dirty="0"/>
          </a:p>
          <a:p>
            <a:pPr algn="ctr" indent="0" marL="0">
              <a:buNone/>
            </a:pPr>
            <a:r>
              <a:rPr lang="en-US" sz="1000" dirty="0">
                <a:solidFill>
                  <a:srgbClr val="5B6477"/>
                </a:solidFill>
              </a:rPr>
              <a:t>run tracking</a:t>
            </a:r>
            <a:endParaRPr lang="en-US" sz="1200" dirty="0"/>
          </a:p>
        </p:txBody>
      </p:sp>
      <p:sp>
        <p:nvSpPr>
          <p:cNvPr id="21" name="Arrow"/>
          <p:cNvSpPr/>
          <p:nvPr/>
        </p:nvSpPr>
        <p:spPr>
          <a:xfrm>
            <a:off x="1920240" y="1645920"/>
            <a:ext cx="182880" cy="0"/>
          </a:xfrm>
          <a:prstGeom prst="line">
            <a:avLst/>
          </a:prstGeom>
          <a:noFill/>
          <a:ln w="19050">
            <a:solidFill>
              <a:srgbClr val="0F766E"/>
            </a:solidFill>
            <a:prstDash val="solid"/>
            <a:tailEnd type="triangle"/>
          </a:ln>
        </p:spPr>
      </p:sp>
      <p:sp>
        <p:nvSpPr>
          <p:cNvPr id="22" name="Arrow"/>
          <p:cNvSpPr/>
          <p:nvPr/>
        </p:nvSpPr>
        <p:spPr>
          <a:xfrm>
            <a:off x="3474720" y="1645920"/>
            <a:ext cx="182880" cy="0"/>
          </a:xfrm>
          <a:prstGeom prst="line">
            <a:avLst/>
          </a:prstGeom>
          <a:noFill/>
          <a:ln w="19050">
            <a:solidFill>
              <a:srgbClr val="0F766E"/>
            </a:solidFill>
            <a:prstDash val="solid"/>
            <a:tailEnd type="triangle"/>
          </a:ln>
        </p:spPr>
      </p:sp>
      <p:sp>
        <p:nvSpPr>
          <p:cNvPr id="23" name="Arrow"/>
          <p:cNvSpPr/>
          <p:nvPr/>
        </p:nvSpPr>
        <p:spPr>
          <a:xfrm>
            <a:off x="4343400" y="2057400"/>
            <a:ext cx="0" cy="457200"/>
          </a:xfrm>
          <a:prstGeom prst="line">
            <a:avLst/>
          </a:prstGeom>
          <a:noFill/>
          <a:ln w="19050">
            <a:solidFill>
              <a:srgbClr val="0F766E"/>
            </a:solidFill>
            <a:prstDash val="solid"/>
            <a:tailEnd type="triangle"/>
          </a:ln>
        </p:spPr>
      </p:sp>
      <p:sp>
        <p:nvSpPr>
          <p:cNvPr id="24" name="Arrow"/>
          <p:cNvSpPr/>
          <p:nvPr/>
        </p:nvSpPr>
        <p:spPr>
          <a:xfrm flipH="1">
            <a:off x="3474720" y="2926080"/>
            <a:ext cx="182880" cy="0"/>
          </a:xfrm>
          <a:prstGeom prst="line">
            <a:avLst/>
          </a:prstGeom>
          <a:noFill/>
          <a:ln w="19050">
            <a:solidFill>
              <a:srgbClr val="0F766E"/>
            </a:solidFill>
            <a:prstDash val="solid"/>
            <a:tailEnd type="triangle"/>
          </a:ln>
        </p:spPr>
      </p:sp>
      <p:sp>
        <p:nvSpPr>
          <p:cNvPr id="25" name="Arrow"/>
          <p:cNvSpPr/>
          <p:nvPr/>
        </p:nvSpPr>
        <p:spPr>
          <a:xfrm flipH="1">
            <a:off x="1920240" y="2926080"/>
            <a:ext cx="182880" cy="0"/>
          </a:xfrm>
          <a:prstGeom prst="line">
            <a:avLst/>
          </a:prstGeom>
          <a:noFill/>
          <a:ln w="19050">
            <a:solidFill>
              <a:srgbClr val="0F766E"/>
            </a:solidFill>
            <a:prstDash val="solid"/>
            <a:tailEnd type="triangle"/>
          </a:ln>
        </p:spPr>
      </p:sp>
      <p:sp>
        <p:nvSpPr>
          <p:cNvPr id="26" name="Arrow"/>
          <p:cNvSpPr/>
          <p:nvPr/>
        </p:nvSpPr>
        <p:spPr>
          <a:xfrm>
            <a:off x="2788920" y="3337560"/>
            <a:ext cx="0" cy="365760"/>
          </a:xfrm>
          <a:prstGeom prst="line">
            <a:avLst/>
          </a:prstGeom>
          <a:noFill/>
          <a:ln w="19050">
            <a:solidFill>
              <a:srgbClr val="0F766E"/>
            </a:solidFill>
            <a:prstDash val="solid"/>
            <a:tailEnd type="triangle"/>
          </a:ln>
        </p:spPr>
      </p:sp>
      <p:sp>
        <p:nvSpPr>
          <p:cNvPr id="27" name="Arrow"/>
          <p:cNvSpPr/>
          <p:nvPr/>
        </p:nvSpPr>
        <p:spPr>
          <a:xfrm flipH="1">
            <a:off x="1920240" y="4114800"/>
            <a:ext cx="182880" cy="0"/>
          </a:xfrm>
          <a:prstGeom prst="line">
            <a:avLst/>
          </a:prstGeom>
          <a:noFill/>
          <a:ln w="19050">
            <a:solidFill>
              <a:srgbClr val="0F766E"/>
            </a:solidFill>
            <a:prstDash val="solid"/>
            <a:tailEnd type="triangle"/>
          </a:ln>
        </p:spPr>
      </p:sp>
      <p:sp>
        <p:nvSpPr>
          <p:cNvPr id="28" name="Design points"/>
          <p:cNvSpPr txBox="1"/>
          <p:nvPr/>
        </p:nvSpPr>
        <p:spPr>
          <a:xfrm>
            <a:off x="5760720" y="123444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A44"/>
                </a:solidFill>
              </a:rPr>
              <a:t>Kafka streams transactions</a:t>
            </a:r>
            <a:endParaRPr lang="en-US" sz="1400" dirty="0"/>
          </a:p>
          <a:p>
            <a:pPr marL="342900" indent="-342900">
              <a:spcAft>
                <a:spcPts val="800"/>
              </a:spcAft>
              <a:buSzPct val="100000"/>
              <a:buChar char="•"/>
            </a:pPr>
            <a:r>
              <a:rPr lang="en-US" sz="1400" dirty="0">
                <a:solidFill>
                  <a:srgbClr val="1F2A44"/>
                </a:solidFill>
              </a:rPr>
              <a:t>FastAPI + XGBoost scores each one</a:t>
            </a:r>
            <a:endParaRPr lang="en-US" sz="1400" dirty="0"/>
          </a:p>
          <a:p>
            <a:pPr marL="342900" indent="-342900">
              <a:spcAft>
                <a:spcPts val="800"/>
              </a:spcAft>
              <a:buSzPct val="100000"/>
              <a:buChar char="•"/>
            </a:pPr>
            <a:r>
              <a:rPr lang="en-US" sz="1400" dirty="0">
                <a:solidFill>
                  <a:srgbClr val="1F2A44"/>
                </a:solidFill>
              </a:rPr>
              <a:t>Feast serves card history features</a:t>
            </a:r>
            <a:endParaRPr lang="en-US" sz="1400" dirty="0"/>
          </a:p>
          <a:p>
            <a:pPr marL="342900" indent="-342900">
              <a:spcAft>
                <a:spcPts val="800"/>
              </a:spcAft>
              <a:buSzPct val="100000"/>
              <a:buChar char="•"/>
            </a:pPr>
            <a:r>
              <a:rPr lang="en-US" sz="1400" dirty="0">
                <a:solidFill>
                  <a:srgbClr val="1F2A44"/>
                </a:solidFill>
              </a:rPr>
              <a:t>Dashboard collects analyst labels</a:t>
            </a:r>
            <a:endParaRPr lang="en-US" sz="1400" dirty="0"/>
          </a:p>
          <a:p>
            <a:pPr marL="342900" indent="-342900">
              <a:buSzPct val="100000"/>
              <a:buChar char="•"/>
            </a:pPr>
            <a:r>
              <a:rPr lang="en-US" sz="1400" dirty="0">
                <a:solidFill>
                  <a:srgbClr val="1F2A44"/>
                </a:solidFill>
              </a:rPr>
              <a:t>Drift check can trigger retraining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Accent bar"/>
          <p:cNvSpPr/>
          <p:nvPr/>
        </p:nvSpPr>
        <p:spPr>
          <a:xfrm>
            <a:off x="0" y="0"/>
            <a:ext cx="164592" cy="5143500"/>
          </a:xfrm>
          <a:prstGeom prst="rect">
            <a:avLst/>
          </a:prstGeom>
          <a:solidFill>
            <a:srgbClr val="0F766E"/>
          </a:solidFill>
          <a:ln w="12700">
            <a:solidFill>
              <a:srgbClr val="0F766E"/>
            </a:solidFill>
            <a:prstDash val="solid"/>
          </a:ln>
        </p:spPr>
      </p:sp>
      <p:sp>
        <p:nvSpPr>
          <p:cNvPr id="3" name="Title"/>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Data and features</a:t>
            </a:r>
            <a:endParaRPr lang="en-US" sz="2800" dirty="0"/>
          </a:p>
        </p:txBody>
      </p:sp>
      <p:sp>
        <p:nvSpPr>
          <p:cNvPr id="5" name="Body"/>
          <p:cNvSpPr txBox="1"/>
          <p:nvPr/>
        </p:nvSpPr>
        <p:spPr>
          <a:xfrm>
            <a:off x="548640" y="1188720"/>
            <a:ext cx="8046720" cy="32918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F2A44"/>
                </a:solidFill>
              </a:rPr>
              <a:t>Per-card history: transaction count, time since last, amount vs. card average</a:t>
            </a:r>
            <a:endParaRPr lang="en-US" sz="1800" dirty="0"/>
          </a:p>
          <a:p>
            <a:pPr marL="342900" indent="-342900">
              <a:spcAft>
                <a:spcPts val="1000"/>
              </a:spcAft>
              <a:buSzPct val="100000"/>
              <a:buChar char="•"/>
            </a:pPr>
            <a:r>
              <a:rPr lang="en-US" sz="1800" dirty="0">
                <a:solidFill>
                  <a:srgbClr val="1F2A44"/>
                </a:solidFill>
              </a:rPr>
              <a:t>Change flags: device, address, email domain</a:t>
            </a:r>
            <a:endParaRPr lang="en-US" sz="1800" dirty="0"/>
          </a:p>
          <a:p>
            <a:pPr marL="342900" indent="-342900">
              <a:spcAft>
                <a:spcPts val="1000"/>
              </a:spcAft>
              <a:buSzPct val="100000"/>
              <a:buChar char="•"/>
            </a:pPr>
            <a:r>
              <a:rPr lang="en-US" sz="1800" dirty="0">
                <a:solidFill>
                  <a:srgbClr val="1F2A44"/>
                </a:solidFill>
              </a:rPr>
              <a:t>Only past transactions are used, so no future data leaks in</a:t>
            </a:r>
            <a:endParaRPr lang="en-US" sz="1800" dirty="0"/>
          </a:p>
          <a:p>
            <a:pPr marL="342900" indent="-342900">
              <a:spcAft>
                <a:spcPts val="1000"/>
              </a:spcAft>
              <a:buSzPct val="100000"/>
              <a:buChar char="•"/>
            </a:pPr>
            <a:r>
              <a:rPr lang="en-US" sz="1800" dirty="0">
                <a:solidFill>
                  <a:srgbClr val="1F2A44"/>
                </a:solidFill>
              </a:rPr>
              <a:t>Time-based split: 72% train, 8% validation, 20% test</a:t>
            </a:r>
            <a:endParaRPr lang="en-US" sz="1800" dirty="0"/>
          </a:p>
          <a:p>
            <a:pPr marL="342900" indent="-342900">
              <a:spcAft>
                <a:spcPts val="1000"/>
              </a:spcAft>
              <a:buSzPct val="100000"/>
              <a:buChar char="•"/>
            </a:pPr>
            <a:r>
              <a:rPr lang="en-US" sz="1800" dirty="0">
                <a:solidFill>
                  <a:srgbClr val="1F2A44"/>
                </a:solidFill>
              </a:rPr>
              <a:t>Class weight about 27 for fraud; metric is PR-AUC</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Accent bar"/>
          <p:cNvSpPr/>
          <p:nvPr/>
        </p:nvSpPr>
        <p:spPr>
          <a:xfrm>
            <a:off x="0" y="0"/>
            <a:ext cx="164592" cy="5143500"/>
          </a:xfrm>
          <a:prstGeom prst="rect">
            <a:avLst/>
          </a:prstGeom>
          <a:solidFill>
            <a:srgbClr val="0F766E"/>
          </a:solidFill>
          <a:ln w="12700">
            <a:solidFill>
              <a:srgbClr val="0F766E"/>
            </a:solidFill>
            <a:prstDash val="solid"/>
          </a:ln>
        </p:spPr>
      </p:sp>
      <p:sp>
        <p:nvSpPr>
          <p:cNvPr id="3" name="Title"/>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Models and results</a:t>
            </a:r>
            <a:endParaRPr lang="en-US" sz="2800" dirty="0"/>
          </a:p>
        </p:txBody>
      </p:sp>
      <p:graphicFrame>
        <p:nvGraphicFramePr>
          <p:cNvPr id="6" name="Results table"/>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4389120"/>
                <a:gridCol w="1828800"/>
                <a:gridCol w="1828800"/>
              </a:tblGrid>
              <a:tr h="411480">
                <a:tc>
                  <a:txBody>
                    <a:bodyPr/>
                    <a:lstStyle/>
                    <a:p>
                      <a:pPr indent="0" marL="0">
                        <a:buNone/>
                      </a:pPr>
                      <a:r>
                        <a:rPr lang="en-US" sz="1300" b="1" dirty="0">
                          <a:solidFill>
                            <a:srgbClr val="FFFFFF"/>
                          </a:solidFill>
                        </a:rPr>
                        <a:t>Model</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rPr>
                        <a:t>Test PR-AUC</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rPr>
                        <a:t>Test ROC-AUC</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F766E"/>
                    </a:solidFill>
                  </a:tcPr>
                </a:tc>
              </a:tr>
              <a:tr h="411480">
                <a:tc>
                  <a:txBody>
                    <a:bodyPr/>
                    <a:lstStyle/>
                    <a:p>
                      <a:pPr indent="0" marL="0">
                        <a:buNone/>
                      </a:pPr>
                      <a:r>
                        <a:rPr lang="en-US" sz="1300" dirty="0">
                          <a:solidFill>
                            <a:srgbClr val="1F2A44"/>
                          </a:solidFill>
                        </a:rPr>
                        <a:t>Random guessing</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0.034</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0.50</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11480">
                <a:tc>
                  <a:txBody>
                    <a:bodyPr/>
                    <a:lstStyle/>
                    <a:p>
                      <a:pPr indent="0" marL="0">
                        <a:buNone/>
                      </a:pPr>
                      <a:r>
                        <a:rPr lang="en-US" sz="1300" dirty="0">
                          <a:solidFill>
                            <a:srgbClr val="1F2A44"/>
                          </a:solidFill>
                        </a:rPr>
                        <a:t>XGBoost baseline, 12 features</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0.119</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0.754</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11480">
                <a:tc>
                  <a:txBody>
                    <a:bodyPr/>
                    <a:lstStyle/>
                    <a:p>
                      <a:pPr indent="0" marL="0">
                        <a:buNone/>
                      </a:pPr>
                      <a:r>
                        <a:rPr lang="en-US" sz="1300" b="1" dirty="0">
                          <a:solidFill>
                            <a:srgbClr val="1F2A44"/>
                          </a:solidFill>
                        </a:rPr>
                        <a:t>XGBoost, 59 features + early stopping</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b="1" dirty="0">
                          <a:solidFill>
                            <a:srgbClr val="1F2A44"/>
                          </a:solidFill>
                        </a:rPr>
                        <a:t>0.473</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b="1" dirty="0">
                          <a:solidFill>
                            <a:srgbClr val="1F2A44"/>
                          </a:solidFill>
                        </a:rPr>
                        <a:t>0.895</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11480">
                <a:tc>
                  <a:txBody>
                    <a:bodyPr/>
                    <a:lstStyle/>
                    <a:p>
                      <a:pPr indent="0" marL="0">
                        <a:buNone/>
                      </a:pPr>
                      <a:r>
                        <a:rPr lang="en-US" sz="1300" dirty="0">
                          <a:solidFill>
                            <a:srgbClr val="1F2A44"/>
                          </a:solidFill>
                        </a:rPr>
                        <a:t>Graph neural network alone</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0.291</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n/a</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11480">
                <a:tc>
                  <a:txBody>
                    <a:bodyPr/>
                    <a:lstStyle/>
                    <a:p>
                      <a:pPr indent="0" marL="0">
                        <a:buNone/>
                      </a:pPr>
                      <a:r>
                        <a:rPr lang="en-US" sz="1300" dirty="0">
                          <a:solidFill>
                            <a:srgbClr val="1F2A44"/>
                          </a:solidFill>
                        </a:rPr>
                        <a:t>GNN + XGBoost blend</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0.473 (weight 0)</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0.895</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6" name="Takeaway"/>
          <p:cNvSpPr txBox="1"/>
          <p:nvPr/>
        </p:nvSpPr>
        <p:spPr>
          <a:xfrm>
            <a:off x="548640" y="3931920"/>
            <a:ext cx="8046720" cy="457200"/>
          </a:xfrm>
          <a:prstGeom prst="rect">
            <a:avLst/>
          </a:prstGeom>
          <a:noFill/>
          <a:ln/>
        </p:spPr>
        <p:txBody>
          <a:bodyPr wrap="square" lIns="0" tIns="0" rIns="0" bIns="0" rtlCol="0" anchor="ctr"/>
          <a:lstStyle/>
          <a:p>
            <a:pPr indent="0" marL="0">
              <a:buNone/>
            </a:pPr>
            <a:r>
              <a:rPr lang="en-US" sz="1500" i="1" dirty="0">
                <a:solidFill>
                  <a:srgbClr val="0F766E"/>
                </a:solidFill>
              </a:rPr>
              <a:t>The GNN added nothing on top of XGBoost, so I kept XGBoost in production.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Accent bar"/>
          <p:cNvSpPr/>
          <p:nvPr/>
        </p:nvSpPr>
        <p:spPr>
          <a:xfrm>
            <a:off x="0" y="0"/>
            <a:ext cx="164592" cy="5143500"/>
          </a:xfrm>
          <a:prstGeom prst="rect">
            <a:avLst/>
          </a:prstGeom>
          <a:solidFill>
            <a:srgbClr val="0F766E"/>
          </a:solidFill>
          <a:ln w="12700">
            <a:solidFill>
              <a:srgbClr val="0F766E"/>
            </a:solidFill>
            <a:prstDash val="solid"/>
          </a:ln>
        </p:spPr>
      </p:sp>
      <p:sp>
        <p:nvSpPr>
          <p:cNvPr id="3" name="Title"/>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Live pipeline results</a:t>
            </a:r>
            <a:endParaRPr lang="en-US" sz="2800" dirty="0"/>
          </a:p>
        </p:txBody>
      </p:sp>
      <p:sp>
        <p:nvSpPr>
          <p:cNvPr id="5" name="Live numbers"/>
          <p:cNvSpPr txBox="1"/>
          <p:nvPr/>
        </p:nvSpPr>
        <p:spPr>
          <a:xfrm>
            <a:off x="548640" y="1143000"/>
            <a:ext cx="8046720" cy="1005840"/>
          </a:xfrm>
          <a:prstGeom prst="rect">
            <a:avLst/>
          </a:prstGeom>
          <a:noFill/>
          <a:ln/>
        </p:spPr>
        <p:txBody>
          <a:bodyPr wrap="square" lIns="0" tIns="0" rIns="0" bIns="0" rtlCol="0" anchor="t"/>
          <a:lstStyle/>
          <a:p>
            <a:pPr indent="0" marL="0">
              <a:spcAft>
                <a:spcPts val="600"/>
              </a:spcAft>
              <a:buNone/>
            </a:pPr>
            <a:r>
              <a:rPr lang="en-US" sz="1600" b="1" dirty="0">
                <a:solidFill>
                  <a:srgbClr val="1F2A44"/>
                </a:solidFill>
              </a:rPr>
              <a:t>2,000 transactions, 91 real frauds</a:t>
            </a:r>
            <a:endParaRPr lang="en-US" sz="1600" dirty="0"/>
          </a:p>
          <a:p>
            <a:pPr indent="0" marL="0">
              <a:spcAft>
                <a:spcPts val="600"/>
              </a:spcAft>
              <a:buNone/>
            </a:pPr>
            <a:r>
              <a:rPr lang="en-US" sz="1600" dirty="0">
                <a:solidFill>
                  <a:srgbClr val="1F2A44"/>
                </a:solidFill>
              </a:rPr>
              <a:t>Latency: 6.3 ms average, 8.2 ms 95th percentile</a:t>
            </a:r>
            <a:endParaRPr lang="en-US" sz="1600" dirty="0"/>
          </a:p>
          <a:p>
            <a:pPr indent="0" marL="0">
              <a:spcAft>
                <a:spcPts val="600"/>
              </a:spcAft>
              <a:buNone/>
            </a:pPr>
            <a:r>
              <a:rPr lang="en-US" sz="1600" dirty="0">
                <a:solidFill>
                  <a:srgbClr val="1F2A44"/>
                </a:solidFill>
              </a:rPr>
              <a:t>PR-AUC 0.352 (random 0.046), ROC-AUC 0.805</a:t>
            </a:r>
            <a:endParaRPr lang="en-US" sz="1600" dirty="0"/>
          </a:p>
        </p:txBody>
      </p:sp>
      <p:graphicFrame>
        <p:nvGraphicFramePr>
          <p:cNvPr id="7" name="Threshold table"/>
          <p:cNvGraphicFramePr>
            <a:graphicFrameLocks noGrp="1"/>
          </p:cNvGraphicFramePr>
          <p:nvPr>
            <p:extLst>
              <p:ext uri="{D42A27DB-BD31-4B8C-83A1-F6EECF244321}">
                <p14:modId xmlns:p14="http://schemas.microsoft.com/office/powerpoint/2010/main" val="1579011935"/>
              </p:ext>
            </p:extLst>
          </p:nvPr>
        </p:nvGraphicFramePr>
        <p:xfrm>
          <a:off x="548640" y="2331720"/>
          <a:ext cx="8046720" cy="914400"/>
        </p:xfrm>
        <a:graphic>
          <a:graphicData uri="http://schemas.openxmlformats.org/drawingml/2006/table">
            <a:tbl>
              <a:tblPr/>
              <a:tblGrid>
                <a:gridCol w="2560320"/>
                <a:gridCol w="1828800"/>
                <a:gridCol w="1828800"/>
                <a:gridCol w="1828800"/>
              </a:tblGrid>
              <a:tr h="411480">
                <a:tc>
                  <a:txBody>
                    <a:bodyPr/>
                    <a:lstStyle/>
                    <a:p>
                      <a:pPr indent="0" marL="0">
                        <a:buNone/>
                      </a:pPr>
                      <a:r>
                        <a:rPr lang="en-US" sz="1300" b="1" dirty="0">
                          <a:solidFill>
                            <a:srgbClr val="FFFFFF"/>
                          </a:solidFill>
                        </a:rPr>
                        <a:t>Alert threshold</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rPr>
                        <a:t>Alerts</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rPr>
                        <a:t>Precision</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rPr>
                        <a:t>Recall</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F766E"/>
                    </a:solidFill>
                  </a:tcPr>
                </a:tc>
              </a:tr>
              <a:tr h="411480">
                <a:tc>
                  <a:txBody>
                    <a:bodyPr/>
                    <a:lstStyle/>
                    <a:p>
                      <a:pPr indent="0" marL="0">
                        <a:buNone/>
                      </a:pPr>
                      <a:r>
                        <a:rPr lang="en-US" sz="1300" dirty="0">
                          <a:solidFill>
                            <a:srgbClr val="1F2A44"/>
                          </a:solidFill>
                        </a:rPr>
                        <a:t>0.3</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315</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0.17</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0.60</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11480">
                <a:tc>
                  <a:txBody>
                    <a:bodyPr/>
                    <a:lstStyle/>
                    <a:p>
                      <a:pPr indent="0" marL="0">
                        <a:buNone/>
                      </a:pPr>
                      <a:r>
                        <a:rPr lang="en-US" sz="1300" dirty="0">
                          <a:solidFill>
                            <a:srgbClr val="1F2A44"/>
                          </a:solidFill>
                        </a:rPr>
                        <a:t>0.5</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157</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0.31</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0.53</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11480">
                <a:tc>
                  <a:txBody>
                    <a:bodyPr/>
                    <a:lstStyle/>
                    <a:p>
                      <a:pPr indent="0" marL="0">
                        <a:buNone/>
                      </a:pPr>
                      <a:r>
                        <a:rPr lang="en-US" sz="1300" dirty="0">
                          <a:solidFill>
                            <a:srgbClr val="1F2A44"/>
                          </a:solidFill>
                        </a:rPr>
                        <a:t>0.7</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77</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0.38</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300" dirty="0">
                          <a:solidFill>
                            <a:srgbClr val="1F2A44"/>
                          </a:solidFill>
                        </a:rPr>
                        <a:t>0.32</a:t>
                      </a:r>
                      <a:endParaRPr lang="en-US" sz="1300" dirty="0"/>
                    </a:p>
                  </a:txBody>
                  <a:tcPr marL="91440" marR="91440" marT="45720" marB="45720">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7" name="Takeaway"/>
          <p:cNvSpPr txBox="1"/>
          <p:nvPr/>
        </p:nvSpPr>
        <p:spPr>
          <a:xfrm>
            <a:off x="548640" y="4160520"/>
            <a:ext cx="8046720" cy="365760"/>
          </a:xfrm>
          <a:prstGeom prst="rect">
            <a:avLst/>
          </a:prstGeom>
          <a:noFill/>
          <a:ln/>
        </p:spPr>
        <p:txBody>
          <a:bodyPr wrap="square" lIns="0" tIns="0" rIns="0" bIns="0" rtlCol="0" anchor="ctr"/>
          <a:lstStyle/>
          <a:p>
            <a:pPr indent="0" marL="0">
              <a:buNone/>
            </a:pPr>
            <a:r>
              <a:rPr lang="en-US" sz="1400" i="1" dirty="0">
                <a:solidFill>
                  <a:srgbClr val="0F766E"/>
                </a:solidFill>
              </a:rPr>
              <a:t>Lower threshold catches more fraud but raises false alarms; analysts choose the balance.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Accent bar"/>
          <p:cNvSpPr/>
          <p:nvPr/>
        </p:nvSpPr>
        <p:spPr>
          <a:xfrm>
            <a:off x="0" y="0"/>
            <a:ext cx="164592" cy="5143500"/>
          </a:xfrm>
          <a:prstGeom prst="rect">
            <a:avLst/>
          </a:prstGeom>
          <a:solidFill>
            <a:srgbClr val="0F766E"/>
          </a:solidFill>
          <a:ln w="12700">
            <a:solidFill>
              <a:srgbClr val="0F766E"/>
            </a:solidFill>
            <a:prstDash val="solid"/>
          </a:ln>
        </p:spPr>
      </p:sp>
      <p:sp>
        <p:nvSpPr>
          <p:cNvPr id="3" name="Title"/>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Challenges</a:t>
            </a:r>
            <a:endParaRPr lang="en-US" sz="2800" dirty="0"/>
          </a:p>
        </p:txBody>
      </p:sp>
      <p:sp>
        <p:nvSpPr>
          <p:cNvPr id="5" name="Body"/>
          <p:cNvSpPr txBox="1"/>
          <p:nvPr/>
        </p:nvSpPr>
        <p:spPr>
          <a:xfrm>
            <a:off x="548640" y="1188720"/>
            <a:ext cx="8046720" cy="32918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F2A44"/>
                </a:solidFill>
              </a:rPr>
              <a:t>Feast failed on text card IDs: switched to a numeric card ID</a:t>
            </a:r>
            <a:endParaRPr lang="en-US" sz="1800" dirty="0"/>
          </a:p>
          <a:p>
            <a:pPr marL="342900" indent="-342900">
              <a:spcAft>
                <a:spcPts val="1000"/>
              </a:spcAft>
              <a:buSzPct val="100000"/>
              <a:buChar char="•"/>
            </a:pPr>
            <a:r>
              <a:rPr lang="en-US" sz="1800" dirty="0">
                <a:solidFill>
                  <a:srgbClr val="1F2A44"/>
                </a:solidFill>
              </a:rPr>
              <a:t>Kafka and Minikube stopped after every Docker restart: restart checklist</a:t>
            </a:r>
            <a:endParaRPr lang="en-US" sz="1800" dirty="0"/>
          </a:p>
          <a:p>
            <a:pPr marL="342900" indent="-342900">
              <a:spcAft>
                <a:spcPts val="1000"/>
              </a:spcAft>
              <a:buSzPct val="100000"/>
              <a:buChar char="•"/>
            </a:pPr>
            <a:r>
              <a:rPr lang="en-US" sz="1800" dirty="0">
                <a:solidFill>
                  <a:srgbClr val="1F2A44"/>
                </a:solidFill>
              </a:rPr>
              <a:t>Kubernetes CrashLoopBackOff: pod logs showed scikit-learn missing in the image</a:t>
            </a:r>
            <a:endParaRPr lang="en-US" sz="1800" dirty="0"/>
          </a:p>
          <a:p>
            <a:pPr marL="342900" indent="-342900">
              <a:spcAft>
                <a:spcPts val="1000"/>
              </a:spcAft>
              <a:buSzPct val="100000"/>
              <a:buChar char="•"/>
            </a:pPr>
            <a:r>
              <a:rPr lang="en-US" sz="1800" dirty="0">
                <a:solidFill>
                  <a:srgbClr val="1F2A44"/>
                </a:solidFill>
              </a:rPr>
              <a:t>Fix: added an import check to the Dockerfile, so a missing package fails the build</a:t>
            </a:r>
            <a:endParaRPr lang="en-US" sz="1800" dirty="0"/>
          </a:p>
          <a:p>
            <a:pPr marL="342900" indent="-342900">
              <a:spcAft>
                <a:spcPts val="1000"/>
              </a:spcAft>
              <a:buSzPct val="100000"/>
              <a:buChar char="•"/>
            </a:pPr>
            <a:r>
              <a:rPr lang="en-US" sz="1800" dirty="0">
                <a:solidFill>
                  <a:srgbClr val="1F2A44"/>
                </a:solidFill>
              </a:rPr>
              <a:t>Slow internet: large downloads, CPU-only packages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Accent bar"/>
          <p:cNvSpPr/>
          <p:nvPr/>
        </p:nvSpPr>
        <p:spPr>
          <a:xfrm>
            <a:off x="0" y="0"/>
            <a:ext cx="164592" cy="5143500"/>
          </a:xfrm>
          <a:prstGeom prst="rect">
            <a:avLst/>
          </a:prstGeom>
          <a:solidFill>
            <a:srgbClr val="0F766E"/>
          </a:solidFill>
          <a:ln w="12700">
            <a:solidFill>
              <a:srgbClr val="0F766E"/>
            </a:solidFill>
            <a:prstDash val="solid"/>
          </a:ln>
        </p:spPr>
      </p:sp>
      <p:sp>
        <p:nvSpPr>
          <p:cNvPr id="3" name="Title"/>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1F2A44"/>
                </a:solidFill>
              </a:rPr>
              <a:t>Limits and next steps</a:t>
            </a:r>
            <a:endParaRPr lang="en-US" sz="2800" dirty="0"/>
          </a:p>
        </p:txBody>
      </p:sp>
      <p:sp>
        <p:nvSpPr>
          <p:cNvPr id="5" name="Limits heading"/>
          <p:cNvSpPr txBox="1"/>
          <p:nvPr/>
        </p:nvSpPr>
        <p:spPr>
          <a:xfrm>
            <a:off x="548640" y="1097280"/>
            <a:ext cx="3840480" cy="365760"/>
          </a:xfrm>
          <a:prstGeom prst="rect">
            <a:avLst/>
          </a:prstGeom>
          <a:noFill/>
          <a:ln/>
        </p:spPr>
        <p:txBody>
          <a:bodyPr wrap="square" lIns="0" tIns="0" rIns="0" bIns="0" rtlCol="0" anchor="ctr"/>
          <a:lstStyle/>
          <a:p>
            <a:pPr indent="0" marL="0">
              <a:buNone/>
            </a:pPr>
            <a:r>
              <a:rPr lang="en-US" sz="1800" b="1" dirty="0">
                <a:solidFill>
                  <a:srgbClr val="0F766E"/>
                </a:solidFill>
              </a:rPr>
              <a:t>Limits</a:t>
            </a:r>
            <a:endParaRPr lang="en-US" sz="1800" dirty="0"/>
          </a:p>
        </p:txBody>
      </p:sp>
      <p:sp>
        <p:nvSpPr>
          <p:cNvPr id="6" name="Limits list"/>
          <p:cNvSpPr txBox="1"/>
          <p:nvPr/>
        </p:nvSpPr>
        <p:spPr>
          <a:xfrm>
            <a:off x="548640" y="1508760"/>
            <a:ext cx="384048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A44"/>
                </a:solidFill>
              </a:rPr>
              <a:t>Only the API runs on Kubernetes</a:t>
            </a:r>
            <a:endParaRPr lang="en-US" sz="1400" dirty="0"/>
          </a:p>
          <a:p>
            <a:pPr marL="342900" indent="-342900">
              <a:spcAft>
                <a:spcPts val="800"/>
              </a:spcAft>
              <a:buSzPct val="100000"/>
              <a:buChar char="•"/>
            </a:pPr>
            <a:r>
              <a:rPr lang="en-US" sz="1400" dirty="0">
                <a:solidFill>
                  <a:srgbClr val="1F2A44"/>
                </a:solidFill>
              </a:rPr>
              <a:t>Drift was 11% (5 of 45 features), so retraining never fired</a:t>
            </a:r>
            <a:endParaRPr lang="en-US" sz="1400" dirty="0"/>
          </a:p>
          <a:p>
            <a:pPr marL="342900" indent="-342900">
              <a:spcAft>
                <a:spcPts val="800"/>
              </a:spcAft>
              <a:buSzPct val="100000"/>
              <a:buChar char="•"/>
            </a:pPr>
            <a:r>
              <a:rPr lang="en-US" sz="1400" dirty="0">
                <a:solidFill>
                  <a:srgbClr val="1F2A44"/>
                </a:solidFill>
              </a:rPr>
              <a:t>GNN not used in production</a:t>
            </a:r>
            <a:endParaRPr lang="en-US" sz="1400" dirty="0"/>
          </a:p>
          <a:p>
            <a:pPr marL="342900" indent="-342900">
              <a:buSzPct val="100000"/>
              <a:buChar char="•"/>
            </a:pPr>
            <a:r>
              <a:rPr lang="en-US" sz="1400" dirty="0">
                <a:solidFill>
                  <a:srgbClr val="1F2A44"/>
                </a:solidFill>
              </a:rPr>
              <a:t>Labels come from the dataset, not real casework</a:t>
            </a:r>
            <a:endParaRPr lang="en-US" sz="1400" dirty="0"/>
          </a:p>
        </p:txBody>
      </p:sp>
      <p:sp>
        <p:nvSpPr>
          <p:cNvPr id="7" name="Next heading"/>
          <p:cNvSpPr txBox="1"/>
          <p:nvPr/>
        </p:nvSpPr>
        <p:spPr>
          <a:xfrm>
            <a:off x="4754880" y="1097280"/>
            <a:ext cx="3840480" cy="365760"/>
          </a:xfrm>
          <a:prstGeom prst="rect">
            <a:avLst/>
          </a:prstGeom>
          <a:noFill/>
          <a:ln/>
        </p:spPr>
        <p:txBody>
          <a:bodyPr wrap="square" lIns="0" tIns="0" rIns="0" bIns="0" rtlCol="0" anchor="ctr"/>
          <a:lstStyle/>
          <a:p>
            <a:pPr indent="0" marL="0">
              <a:buNone/>
            </a:pPr>
            <a:r>
              <a:rPr lang="en-US" sz="1800" b="1" dirty="0">
                <a:solidFill>
                  <a:srgbClr val="0F766E"/>
                </a:solidFill>
              </a:rPr>
              <a:t>Next steps</a:t>
            </a:r>
            <a:endParaRPr lang="en-US" sz="1800" dirty="0"/>
          </a:p>
        </p:txBody>
      </p:sp>
      <p:sp>
        <p:nvSpPr>
          <p:cNvPr id="8" name="Next list"/>
          <p:cNvSpPr txBox="1"/>
          <p:nvPr/>
        </p:nvSpPr>
        <p:spPr>
          <a:xfrm>
            <a:off x="4754880" y="1508760"/>
            <a:ext cx="384048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A44"/>
                </a:solidFill>
              </a:rPr>
              <a:t>Train the GNN longer, with separate card and device nodes</a:t>
            </a:r>
            <a:endParaRPr lang="en-US" sz="1400" dirty="0"/>
          </a:p>
          <a:p>
            <a:pPr marL="342900" indent="-342900">
              <a:spcAft>
                <a:spcPts val="800"/>
              </a:spcAft>
              <a:buSzPct val="100000"/>
              <a:buChar char="•"/>
            </a:pPr>
            <a:r>
              <a:rPr lang="en-US" sz="1400" dirty="0">
                <a:solidFill>
                  <a:srgbClr val="1F2A44"/>
                </a:solidFill>
              </a:rPr>
              <a:t>Retrain using analyst feedback labels</a:t>
            </a:r>
            <a:endParaRPr lang="en-US" sz="1400" dirty="0"/>
          </a:p>
          <a:p>
            <a:pPr marL="342900" indent="-342900">
              <a:spcAft>
                <a:spcPts val="800"/>
              </a:spcAft>
              <a:buSzPct val="100000"/>
              <a:buChar char="•"/>
            </a:pPr>
            <a:r>
              <a:rPr lang="en-US" sz="1400" dirty="0">
                <a:solidFill>
                  <a:srgbClr val="1F2A44"/>
                </a:solidFill>
              </a:rPr>
              <a:t>Run consumer and dashboard on Kubernetes</a:t>
            </a:r>
            <a:endParaRPr lang="en-US" sz="1400" dirty="0"/>
          </a:p>
          <a:p>
            <a:pPr marL="342900" indent="-342900">
              <a:buSzPct val="100000"/>
              <a:buChar char="•"/>
            </a:pPr>
            <a:r>
              <a:rPr lang="en-US" sz="1400" dirty="0">
                <a:solidFill>
                  <a:srgbClr val="1F2A44"/>
                </a:solidFill>
              </a:rPr>
              <a:t>Test the retrain path with real drift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Financial Fraud Detection Platform</dc:title>
  <dc:subject>PptxGenJS Presentation</dc:subject>
  <dc:creator>Pranav Balasaheb Wakurde</dc:creator>
  <cp:lastModifiedBy>Pranav Balasaheb Wakurde</cp:lastModifiedBy>
  <cp:revision>1</cp:revision>
  <dcterms:created xsi:type="dcterms:W3CDTF">2026-10-31T10:36:20Z</dcterms:created>
  <dcterms:modified xsi:type="dcterms:W3CDTF">2026-10-31T10:36:20Z</dcterms:modified>
</cp:coreProperties>
</file>